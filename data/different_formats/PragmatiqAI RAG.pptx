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y="5143500" cx="9144000"/>
  <p:notesSz cx="6858000" cy="9144000"/>
  <p:embeddedFontLst>
    <p:embeddedFont>
      <p:font typeface="Manrope Light"/>
      <p:regular r:id="rId42"/>
      <p:bold r:id="rId43"/>
    </p:embeddedFont>
    <p:embeddedFont>
      <p:font typeface="Manrope"/>
      <p:regular r:id="rId44"/>
      <p:bold r:id="rId45"/>
    </p:embeddedFont>
    <p:embeddedFont>
      <p:font typeface="Sora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ManropeLight-regular.fntdata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font" Target="fonts/Manrope-regular.fntdata"/><Relationship Id="rId21" Type="http://schemas.openxmlformats.org/officeDocument/2006/relationships/slide" Target="slides/slide16.xml"/><Relationship Id="rId43" Type="http://schemas.openxmlformats.org/officeDocument/2006/relationships/font" Target="fonts/ManropeLight-bold.fntdata"/><Relationship Id="rId24" Type="http://schemas.openxmlformats.org/officeDocument/2006/relationships/slide" Target="slides/slide19.xml"/><Relationship Id="rId46" Type="http://schemas.openxmlformats.org/officeDocument/2006/relationships/font" Target="fonts/Sora-regular.fntdata"/><Relationship Id="rId23" Type="http://schemas.openxmlformats.org/officeDocument/2006/relationships/slide" Target="slides/slide18.xml"/><Relationship Id="rId45" Type="http://schemas.openxmlformats.org/officeDocument/2006/relationships/font" Target="fonts/Manrope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47" Type="http://schemas.openxmlformats.org/officeDocument/2006/relationships/font" Target="fonts/Sora-bold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b6cb4a72a8_0_0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g3b6cb4a72a8_0_0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g3b6cb4a72a8_0_0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b6cb4a72a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b6cb4a72a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Mainida minu projektid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6cb4a72a8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6cb4a72a8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6cb4a72a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6cb4a72a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6cb4a72a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6cb4a72a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6cb4a72a8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6cb4a72a8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d8a837f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d8a837f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d8a837f11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d8a837f11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d8a837f11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d8a837f11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d83bb42b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d83bb42b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cd8a837f1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cd8a837f1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d8a837f1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d8a837f1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d8a837f1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d8a837f1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6ce65e674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6ce65e674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d8a837f1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cd8a837f1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d8a837f1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d8a837f1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d8a837f1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d8a837f1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d8a837f11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d8a837f11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d83bb42b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d83bb42b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d8a837f1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cd8a837f1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d8a837f11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d8a837f11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d8a837f1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d8a837f1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cd8a837f11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cd8a837f11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d8a837f11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d8a837f11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cd8a837f11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cd8a837f11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d8a837f11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d8a837f11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d8a837f11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d8a837f11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cd8a837f11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cd8a837f11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d8a837f11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d8a837f11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cd8a837f1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cd8a837f1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cd8a837f11_0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cd8a837f11_0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d8a837f11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d8a837f11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cd8a837f11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cd8a837f11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cd8a837f11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cd8a837f11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cd8a837f11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cd8a837f11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3b8044d9367_0_1932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g3b8044d9367_0_1932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b8044d9367_0_1932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GB" sz="900"/>
              <a:t>‹#›</a:t>
            </a:fld>
            <a:endParaRPr sz="9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9" Type="http://schemas.openxmlformats.org/officeDocument/2006/relationships/image" Target="../media/image5.png"/><Relationship Id="rId5" Type="http://schemas.openxmlformats.org/officeDocument/2006/relationships/image" Target="../media/image26.png"/><Relationship Id="rId6" Type="http://schemas.openxmlformats.org/officeDocument/2006/relationships/image" Target="../media/image15.png"/><Relationship Id="rId7" Type="http://schemas.openxmlformats.org/officeDocument/2006/relationships/image" Target="../media/image13.png"/><Relationship Id="rId8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hyperlink" Target="https://github.com/mattiasarro/RAG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/>
          <p:nvPr/>
        </p:nvSpPr>
        <p:spPr>
          <a:xfrm>
            <a:off x="781650" y="1764500"/>
            <a:ext cx="52047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900"/>
              <a:buFont typeface="Arial"/>
              <a:buNone/>
            </a:pPr>
            <a:r>
              <a:rPr b="1" lang="en-GB" sz="38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RAG-põhise</a:t>
            </a:r>
            <a:br>
              <a:rPr b="1" lang="en-GB" sz="38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b="1" lang="en-GB" sz="38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tehisaru loomine</a:t>
            </a:r>
            <a:endParaRPr b="1" sz="38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/>
        </p:nvSpPr>
        <p:spPr>
          <a:xfrm>
            <a:off x="781650" y="3326300"/>
            <a:ext cx="455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10.03.2026</a:t>
            </a:r>
            <a:endParaRPr sz="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58" name="Google Shape;58;p14" title="Frame 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5025" y="203800"/>
            <a:ext cx="831899" cy="508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1055350" y="3137675"/>
            <a:ext cx="2491500" cy="45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Mattias Arro</a:t>
            </a:r>
            <a:endParaRPr b="1" sz="21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" name="Google Shape;64;p15"/>
          <p:cNvSpPr txBox="1"/>
          <p:nvPr>
            <p:ph type="title"/>
          </p:nvPr>
        </p:nvSpPr>
        <p:spPr>
          <a:xfrm>
            <a:off x="3878400" y="1136100"/>
            <a:ext cx="4294500" cy="2871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400"/>
              <a:buFont typeface="Manrope"/>
              <a:buChar char="●"/>
            </a:pPr>
            <a:r>
              <a:rPr b="1" lang="en-GB" sz="14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Üle 20-aastase IT-alase kogemusega</a:t>
            </a:r>
            <a:endParaRPr b="1" sz="14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400"/>
              <a:buFont typeface="Manrope Light"/>
              <a:buChar char="●"/>
            </a:pPr>
            <a:r>
              <a:rPr lang="en-GB"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rPr>
              <a:t>10-aastase AI arenduse kogemusega</a:t>
            </a:r>
            <a:endParaRPr sz="1400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400"/>
              <a:buFont typeface="Manrope Light"/>
              <a:buChar char="●"/>
            </a:pPr>
            <a:r>
              <a:rPr lang="en-GB"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rPr>
              <a:t>Ehitanud 10+ AI-põhist rakendust</a:t>
            </a:r>
            <a:endParaRPr sz="1400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400"/>
              <a:buFont typeface="Manrope Light"/>
              <a:buChar char="●"/>
            </a:pPr>
            <a:r>
              <a:rPr lang="en-GB"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rPr>
              <a:t>AI/ML arhitekt PragmatiqAI-s</a:t>
            </a:r>
            <a:endParaRPr sz="1400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400"/>
              <a:buFont typeface="Manrope Light"/>
              <a:buChar char="●"/>
            </a:pPr>
            <a:r>
              <a:rPr lang="en-GB"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rPr>
              <a:t>BSc Computer Science</a:t>
            </a:r>
            <a:endParaRPr sz="1400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400"/>
              <a:buFont typeface="Manrope Light"/>
              <a:buChar char="●"/>
            </a:pPr>
            <a:r>
              <a:rPr lang="en-GB" sz="1400">
                <a:solidFill>
                  <a:schemeClr val="lt1"/>
                </a:solidFill>
                <a:latin typeface="Manrope Light"/>
                <a:ea typeface="Manrope Light"/>
                <a:cs typeface="Manrope Light"/>
                <a:sym typeface="Manrope Light"/>
              </a:rPr>
              <a:t>MSc Data Science</a:t>
            </a:r>
            <a:endParaRPr sz="1400">
              <a:solidFill>
                <a:schemeClr val="lt1"/>
              </a:solidFill>
              <a:latin typeface="Manrope Light"/>
              <a:ea typeface="Manrope Light"/>
              <a:cs typeface="Manrope Light"/>
              <a:sym typeface="Manrope Light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3072000" y="4835700"/>
            <a:ext cx="3000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pragmatiqai.com</a:t>
            </a:r>
            <a:endParaRPr sz="800" u="sng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66" name="Google Shape;66;p15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0375" y="180100"/>
            <a:ext cx="670762" cy="41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mugshot cropped.png"/>
          <p:cNvPicPr preferRelativeResize="0"/>
          <p:nvPr/>
        </p:nvPicPr>
        <p:blipFill rotWithShape="1">
          <a:blip r:embed="rId4">
            <a:alphaModFix/>
          </a:blip>
          <a:srcRect b="1550" l="0" r="0" t="1560"/>
          <a:stretch/>
        </p:blipFill>
        <p:spPr>
          <a:xfrm>
            <a:off x="1515405" y="1576675"/>
            <a:ext cx="1571400" cy="15225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866850" y="1822700"/>
            <a:ext cx="7410300" cy="21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Pragmatiq AI toetab ettevõtteid kogu digitaliseerimise teekonna vältel – pakkudes </a:t>
            </a:r>
            <a:r>
              <a:rPr b="1" lang="en-GB" sz="2100">
                <a:solidFill>
                  <a:srgbClr val="139782"/>
                </a:solidFill>
                <a:latin typeface="Manrope"/>
                <a:ea typeface="Manrope"/>
                <a:cs typeface="Manrope"/>
                <a:sym typeface="Manrope"/>
              </a:rPr>
              <a:t>strateegilist nõustamist</a:t>
            </a:r>
            <a:r>
              <a:rPr lang="en-GB" sz="2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, </a:t>
            </a:r>
            <a:r>
              <a:rPr b="1" lang="en-GB" sz="2100">
                <a:solidFill>
                  <a:srgbClr val="139782"/>
                </a:solidFill>
                <a:latin typeface="Manrope"/>
                <a:ea typeface="Manrope"/>
                <a:cs typeface="Manrope"/>
                <a:sym typeface="Manrope"/>
              </a:rPr>
              <a:t>praktilisi koolitusi</a:t>
            </a:r>
            <a:r>
              <a:rPr lang="en-GB" sz="2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ja </a:t>
            </a:r>
            <a:r>
              <a:rPr b="1" lang="en-GB" sz="2100">
                <a:solidFill>
                  <a:srgbClr val="139782"/>
                </a:solidFill>
                <a:latin typeface="Manrope"/>
                <a:ea typeface="Manrope"/>
                <a:cs typeface="Manrope"/>
                <a:sym typeface="Manrope"/>
              </a:rPr>
              <a:t>tehnilist tuge</a:t>
            </a:r>
            <a:r>
              <a:rPr lang="en-GB" sz="2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AI-lahenduste juurutamisel, et saavutada </a:t>
            </a:r>
            <a:r>
              <a:rPr lang="en-GB" sz="2100" u="sng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reaalset, nähtavat arengu</a:t>
            </a:r>
            <a:r>
              <a:rPr lang="en-GB" sz="2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.</a:t>
            </a:r>
            <a:endParaRPr sz="2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73" name="Google Shape;73;p16"/>
          <p:cNvSpPr txBox="1"/>
          <p:nvPr>
            <p:ph type="title"/>
          </p:nvPr>
        </p:nvSpPr>
        <p:spPr>
          <a:xfrm>
            <a:off x="828550" y="980363"/>
            <a:ext cx="70071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Millega Pragmatiq AI tegeleb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74" name="Google Shape;74;p16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4034" y="159100"/>
            <a:ext cx="736124" cy="45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625" y="4463625"/>
            <a:ext cx="699819" cy="55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8600" y="4621888"/>
            <a:ext cx="778642" cy="23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23188" y="4582464"/>
            <a:ext cx="778650" cy="314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42387" y="4568891"/>
            <a:ext cx="778651" cy="34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 rotWithShape="1">
          <a:blip r:embed="rId8">
            <a:alphaModFix/>
          </a:blip>
          <a:srcRect b="38023" l="0" r="0" t="36900"/>
          <a:stretch/>
        </p:blipFill>
        <p:spPr>
          <a:xfrm>
            <a:off x="6529451" y="4584341"/>
            <a:ext cx="1239999" cy="310964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329188" y="4692885"/>
            <a:ext cx="864400" cy="93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 rotWithShape="1">
          <a:blip r:embed="rId10">
            <a:alphaModFix/>
          </a:blip>
          <a:srcRect b="38846" l="0" r="0" t="37846"/>
          <a:stretch/>
        </p:blipFill>
        <p:spPr>
          <a:xfrm>
            <a:off x="5401738" y="4621900"/>
            <a:ext cx="1011895" cy="23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987937" y="4585297"/>
            <a:ext cx="699800" cy="30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706650" y="1785450"/>
            <a:ext cx="7955700" cy="233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Tagada selge ja praktiline arusaam sellest, </a:t>
            </a:r>
            <a:br>
              <a:rPr lang="en-GB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</a:br>
            <a:r>
              <a:rPr lang="en-GB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kuidas töötab RAG, kuidas RAG-põhist süsteemi üles seada ja hallata.</a:t>
            </a:r>
            <a:endParaRPr sz="2500" u="sng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88" name="Google Shape;88;p17"/>
          <p:cNvSpPr txBox="1"/>
          <p:nvPr>
            <p:ph type="title"/>
          </p:nvPr>
        </p:nvSpPr>
        <p:spPr>
          <a:xfrm>
            <a:off x="896000" y="1082200"/>
            <a:ext cx="70071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Meie töötoa eemärk #1</a:t>
            </a:r>
            <a:endParaRPr b="1" sz="21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89" name="Google Shape;89;p17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120500" y="1931550"/>
            <a:ext cx="6903000" cy="157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Koostada </a:t>
            </a:r>
            <a:r>
              <a:rPr b="1" lang="en-GB" sz="2300">
                <a:solidFill>
                  <a:srgbClr val="139782"/>
                </a:solidFill>
                <a:latin typeface="Manrope"/>
                <a:ea typeface="Manrope"/>
                <a:cs typeface="Manrope"/>
                <a:sym typeface="Manrope"/>
              </a:rPr>
              <a:t>nimekiri</a:t>
            </a:r>
            <a:r>
              <a:rPr lang="en-GB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näidisküsimustest, millele soovime RAG süsteemiga vastust ning</a:t>
            </a:r>
            <a:r>
              <a:rPr lang="en-GB" sz="23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 </a:t>
            </a:r>
            <a:r>
              <a:rPr b="1" lang="en-GB" sz="2300">
                <a:solidFill>
                  <a:srgbClr val="139782"/>
                </a:solidFill>
                <a:latin typeface="Manrope"/>
                <a:ea typeface="Manrope"/>
                <a:cs typeface="Manrope"/>
                <a:sym typeface="Manrope"/>
              </a:rPr>
              <a:t>luua selgus RAG süsteemi juurutamise järgmiste sammude osas.</a:t>
            </a:r>
            <a:endParaRPr b="1" sz="2500">
              <a:solidFill>
                <a:srgbClr val="139782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890200" y="1082200"/>
            <a:ext cx="70071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Meie töötoa eesmärk #2</a:t>
            </a:r>
            <a:endParaRPr b="1" sz="19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6" name="Google Shape;96;p18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/>
        </p:nvSpPr>
        <p:spPr>
          <a:xfrm>
            <a:off x="601300" y="9527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Kuidas me seda saavutame? (Agenda)</a:t>
            </a:r>
            <a:endParaRPr b="1" sz="2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2" name="Google Shape;102;p19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 txBox="1"/>
          <p:nvPr/>
        </p:nvSpPr>
        <p:spPr>
          <a:xfrm>
            <a:off x="798850" y="1741750"/>
            <a:ext cx="6446100" cy="30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100"/>
              <a:buFont typeface="Manrope"/>
              <a:buChar char="●"/>
            </a:pPr>
            <a:r>
              <a:rPr lang="en-GB" sz="11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Sissejuhatus: keelemudelid ja RAG süsteemid</a:t>
            </a:r>
            <a:endParaRPr sz="11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100"/>
              <a:buFont typeface="Manrope"/>
              <a:buChar char="●"/>
            </a:pPr>
            <a:r>
              <a:rPr lang="en-GB" sz="11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RAG süsteemi ülesseadmine on-premise keskkonnas</a:t>
            </a:r>
            <a:endParaRPr sz="11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100"/>
              <a:buFont typeface="Manrope"/>
              <a:buChar char="●"/>
            </a:pPr>
            <a:r>
              <a:rPr lang="en-GB" sz="11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RAG süsteemi opereerimine ja haldamine</a:t>
            </a:r>
            <a:endParaRPr sz="11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              12-12:45 -  </a:t>
            </a:r>
            <a:r>
              <a:rPr b="1" lang="en-GB" sz="12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Lõuna</a:t>
            </a:r>
            <a:endParaRPr b="1" sz="12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100"/>
              <a:buFont typeface="Manrope"/>
              <a:buChar char="●"/>
            </a:pPr>
            <a:r>
              <a:rPr lang="en-GB" sz="1100">
                <a:solidFill>
                  <a:schemeClr val="lt1"/>
                </a:solidFill>
                <a:latin typeface="Manrope"/>
                <a:ea typeface="Manrope"/>
                <a:cs typeface="Manrope"/>
                <a:sym typeface="Manrope"/>
              </a:rPr>
              <a:t>Baasmudelite valik ja riistvara planeerimine</a:t>
            </a:r>
            <a:endParaRPr sz="1100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100"/>
              <a:buFont typeface="Manrope"/>
              <a:buChar char="●"/>
            </a:pPr>
            <a:r>
              <a:rPr lang="en-GB" sz="11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Andmeallikate integreerimine: SharePointi näide</a:t>
            </a:r>
            <a:endParaRPr sz="11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39782"/>
              </a:buClr>
              <a:buSzPts val="1100"/>
              <a:buFont typeface="Manrope"/>
              <a:buChar char="●"/>
            </a:pPr>
            <a:r>
              <a:rPr lang="en-GB" sz="1100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Alternatiivlahendused ja edasised sammud</a:t>
            </a:r>
            <a:endParaRPr sz="1100">
              <a:solidFill>
                <a:srgbClr val="FFFFFF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Miks AI just praegu läbi murrab?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09" name="Google Shape;109;p20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2017 – Transformer arhitektuur *("Attention is All You Need")*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2020 – GPT-3: 175 miljardit parameetrit, üldine keeleoskus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2022 – ChatGPT: AI muutub kättesaadavaks kõigile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2023–2024 – avatud mudelid jõuavad kommertslahenduste tasemele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2024–2025 – ettevõttesisesed on-premise lahendused muutuvad reaalseks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Mida keelemudelitega saab teha?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16" name="Google Shape;116;p21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1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📄 Dokumentide analüüs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– 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lepingute läbivaatus, kokkuvõtted, võtmepunktide eraldamine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🔍 Semantiline otsing</a:t>
            </a: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ja küsimustele vastamine – </a:t>
            </a: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leia vastus küsimusele tuhandete dokumentide hulgast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✍️ Teksti genereerimine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– 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aruanded, e-kirjad, tõlked, koodikommentaarid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💬 Vestlusrobotid – klienditugi, siseabi, IT helpdesk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🧾 Struktureeritud andmete eraldamine – täida vorm vabatekstist, parsi arved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🌐 Tõlkimine – dokumentide tõlge, sh erialakeelega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💻 Koodiabi – koodi kirjutamine, selgitamine, silumine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🗂️ Klassifitseerimine ja märgendamine – kategoriseeri dokumendid, tuvasta teema ja meelsus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📊 Andmete tõlgendamine – selgita tabeleid ja graafikuid loomulikus keeles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🔔 Anomaaliate tuvastamine – logi- ja andmevoogude jälgimine, erandite selgitamine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Keelemudelid – põhiprintsiibid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23" name="Google Shape;123;p22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2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Mis on token?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Sõna osa, sõna või kirjavahemärk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"tehisintellekt" → ["tehis", "intel", "lekt"]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Kuidas mudel teksti genereerib?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Sisend:  "Pealinn on ___"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Mudel:   arvutab tõenäosused kõigi sõnade jaoks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Tulemus: "Tallinn" (tõenäosus 94%)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        "linn"    (tõenäosus 3%)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        …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Kontekstiaken (context window)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Mudel "näeb" korraga piiratud hulga teksti (nt 8 000 – 128 000 tokenit)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Kõik, mida mudel teab, peab olema selles aknas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⚠️ Mudel ei mäleta eelmisi vestlusi – iga päring algab nullist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Taust - vektorid ja tehted vektoritega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30" name="Google Shape;130;p23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3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32" name="Google Shape;132;p23" title="Screenshot 2026-03-06 at 13.26.3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125" y="1468963"/>
            <a:ext cx="6362700" cy="3476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Taust - vektorid ja tehted vektoritega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38" name="Google Shape;138;p24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4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0" name="Google Shape;14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9125" y="1549150"/>
            <a:ext cx="5604025" cy="3205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Taust - vektorid ja tehted vektoritega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46" name="Google Shape;146;p25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48" name="Google Shape;148;p25" title="Screenshot 2026-03-06 at 13.30.0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475" y="1597838"/>
            <a:ext cx="6172200" cy="328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Vector store – vektorite andmebaas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54" name="Google Shape;154;p26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1056475" y="3296925"/>
            <a:ext cx="6772200" cy="11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Populaarsed vector store lahendused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Qdrant – hea Docker tugi, kirjutatud Rustis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Chroma – lihtne seadistada, hea arenduseks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Weaviate – täisfunktsionaalne, sisseehitatud otsinguserver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pgvector – PostgreSQL laiendus, tuttav infrastruktuur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56" name="Google Shape;156;p26" title="Screenshot 2026-03-07 at 11.05.5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6463" y="1503300"/>
            <a:ext cx="5876925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LLM &amp; VLM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62" name="Google Shape;162;p27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7"/>
          <p:cNvSpPr txBox="1"/>
          <p:nvPr/>
        </p:nvSpPr>
        <p:spPr>
          <a:xfrm>
            <a:off x="1056475" y="1659425"/>
            <a:ext cx="398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Mudeli arhitektuur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Input embedding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Positional embedding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Decoder block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Output embedding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Classification head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Treenimise faasid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Pre-training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: </a:t>
            </a: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next token prediction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Alignment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: </a:t>
            </a: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SFT &amp; RLHF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Fine-tuning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64" name="Google Shape;164;p27" title="Screenshot 2026-03-06 at 11.50.5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7200" y="1659425"/>
            <a:ext cx="3800524" cy="22475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Miks ei piisa ainult keelmudelist?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70" name="Google Shape;170;p28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8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Probleem 1: Hallutsinatsioonid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Mudel genereerib usutava kuid vale vastuse – ta ei tea, mida ta ei tea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Probleem 2: Aegunud info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Mudel on treenitud ajaloolistel andmetel – ta ei tea tänasest muutustest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Probleem 3: Konfidentsiaalne info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Teie siseandmeid pole mudelile treenimiseks antud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Probleem 4: Allikate puudumine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Mudel ei suuda viidata konkreetsele dokumendile, mis vastust põhjendaks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RAG lahendab kõik need probleemid: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✅ Vastus põhineb tegelikel dokumentidel → vähem hallutsinatsioone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✅ Dokumendid uuendatakse regulaarselt → info on ajakohane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✅ Teie andmed jäävad teie serverisse → turvalisus säilib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✅ Süsteem viitab allikale → vastus on kontrollitav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RAG – Retrieval-Augmented Generation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77" name="Google Shape;177;p29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Samm 1 – Indekseerimine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Jaga dokument ühtlasteks tükkideks, millest igaüks on osa algtekstist.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Kasuta keelemudelit, et luua iga tüki jaoks manustus (embedding).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Salvesta iga tüki embedding vektorandmebaasi.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Samm 2 – Otsimine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Otsi vektorsarnasuse otsingu abil välja k kõige asjakohasemat dokumenti.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Samm 3 – Genereerimine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Algne päring ja leitud tekstid ühendatakse ning saadetakse LLM-ile lõpliku vastuse saamiseks.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RAG – Retrieval-Augmented Generation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84" name="Google Shape;184;p30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0" title="Screenshot 2026-03-07 at 11.13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8738" y="1414675"/>
            <a:ext cx="4377175" cy="357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1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191" name="Google Shape;191;p31" title="Screenshot 2026-03-07 at 15.57.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3629" y="0"/>
            <a:ext cx="659674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Kuidas RAG tekstitükke valib?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197" name="Google Shape;197;p32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2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Vector store-is on salvestatud tükkide embeddingud (n qwen3 mudelist)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Hübriidotsing otsib valib välja tükkide kandidaadid kahe kriteeriumi abil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BM25 - TF-IDF-laadne tekstipõhine meetod (in memory, LangChain)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Vektoriotsing - cosine similarity (ChromaDB)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Ümberjärjestamine (reranking)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lokaalne CrossEncoder transformer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[CLS] &lt;küsimus&gt; [SEP] &lt;tükk&gt; [SEP]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[CLS] tokeni väljundvektori põhjal arvutatakse asjakohasuse skoor S_i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Top-k valik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Lõplikku konteksti pääsevad ainult parimad K tükki.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Suurem K = rohkem konteksti, aga nõuab suuremat kontekstiakent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3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RAG tekstitükkide valimise seaded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04" name="Google Shape;204;p33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3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Admin Panel → Settings → Documents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Chunk Size — tüki suurus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Chunk Overlap — tükkide kattumine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Chunk Min Size Target — minimaalne tüki suurus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Top K — valitavate tükkide arv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Relevance Threshold — asjakohasuse lävend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Embedding Model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RAG Template — päringumalll keelemudeli jaoks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Markdown Header Splitting — päistepõhine tükeldus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HYBRID_BM25_WEIGHT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4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Kuidas mõõdame RAG süsteemi kvaliteeti?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11" name="Google Shape;211;p34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4"/>
          <p:cNvSpPr txBox="1"/>
          <p:nvPr/>
        </p:nvSpPr>
        <p:spPr>
          <a:xfrm>
            <a:off x="1056475" y="141467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Lähenemised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LLM as a judge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Manuaalne valideerimine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Golden dataset</a:t>
            </a:r>
            <a:endParaRPr i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Kriteeriumid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Retrieval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■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Precision - kui suur osa leitud dokumentidest on päriselt asjakohased.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■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Recall - kui suure osa kõigist asjakohastest dokumentidest üles leiti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■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Mean reciprocal rank -  kui kõrgele järjestab süsteem esimese õige dokumendi keskmiselt kõikide päringute lõikes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Generation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■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Faithfulness - kas vastus põhineb ainult leitud kontekstil, ilma väljamõeldud väideteta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■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Answer Relevance - kui hästi vastus tegelikult esitatud küsimusele vastab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Tööriistad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RAGAS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DeepEval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TruLens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5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RAG vs fine-tuning?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18" name="Google Shape;218;p35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5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Kasuta RAGi kui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Teadmistebaas peab olema ajakohane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— RAG toob kätte värskeid/uuendatud dokumente; peenhäälestus jäädvustab teadmised konkreetsesse ajahetke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Vajad allikate viitamist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— RAG saab näidata, kust vastused pärinevad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Teadmistebaas on suur või dünaamiline 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— tootedokumentatsioon, sisemised vikid, õigusandmebaasid, kliendiandmed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Soovid madalamat kulu/riski 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— pole treeningtsüklit, uuendamine on lihtne dokumentide vahetamisega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Hallutsinatsioonid on suur mure 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— vastuste sidumine toodud tekstiga vähendab väljamõeldisi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Andmed on tundlikud 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— võib-olla ei soovi sa ettevõttesiseseid andmeid mudeli kaaludesse põimida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Rusikareegel: </a:t>
            </a: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RAG muudab seda, mida mudel teab.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6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RAG vs fine-tuning?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25" name="Google Shape;225;p36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6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Kasuta </a:t>
            </a: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fine-tuningut (next </a:t>
            </a: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token</a:t>
            </a: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prediction objective) 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kui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Vajad kindlat tooni, stiili või vormingut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— nt vasta alati lühidalt nagu CLI tööriist või brändi häälel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Soovid, et mudel õpiks teatud ülesandemustreid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— struktureeritud väljundivormingud, klassifitseerimisskeemid, valdkonnapõhised arutlusammud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Sul on märgistatud näited õigest käitumisest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— juhiste järgimine, koodistiil, vastuse ülesehitus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Latentsus on oluline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— ilma otsinguta vastused on kiiremad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Teadmised on stabiilsed ja põhimõttelised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— meditsiiniline terminoloogia, juriidiliste klauslite mustrid, kindel koodiraamistik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Rusikareegel: </a:t>
            </a:r>
            <a:r>
              <a:rPr b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Peenhäälestus muudab seda, kuidas mudel käitub.</a:t>
            </a:r>
            <a:endParaRPr b="1"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7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RAG + fine-tuning?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32" name="Google Shape;232;p37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7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Peenhäälestatud mudel + RAG on võimas kombinatsioon: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Peenhäälestus stiili, vormingu ja valdkonnapõhise arutluse jaoks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RAG faktilise aluse ja ajakohase sisu jaoks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8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OpenWebUI arhitektuur - komponendid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39" name="Google Shape;239;p38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8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Web frontend SPA (SvelteKit)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Suhtleb backendiga, osalt üle WebSocketi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Web backend (FastAPI)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Keskne orkestraator: teeb mudelitele päringuid, talletab andmeid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Relational database (SQLite / PostgreSQL)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kasutajakontod, vestluste ajalugu, seaded, teadmiste metaandmed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Vector Store (ChromaDB / etc)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Cache (Redis)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WebSockets state ()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Task queue (FastAPI’s async event loop using asyncio)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Model Server (Ollama)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9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OpenWebUI arhitektuur (1-node)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6" name="Google Shape;246;p39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open-webui konteiner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Web frontend (SvelteKit)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Web backend (FastAPI)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Relational database (SQLite)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Vector Store (in-memory ChromaDB)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Cache (in-memory)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Task queue (FastAPI’s async event loop using asyncio)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●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ollama konteiner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Char char="○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Model Server (Ollama)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47" name="Google Shape;247;p39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40" title="Screenshot 2026-03-07 at 14.23.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674" y="0"/>
            <a:ext cx="662465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Mis toimub, kui laen üles dokumendi?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8" name="Google Shape;258;p41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Sisu eraldamine — toorfail läbib eraldamismootori. Tulemuseks on lihttekst.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Tükeldamine — OpenWebUI kasutab sisemiselt LangChaini tükeldajaid (tähemärgipõhised või markdown-teadlikud).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Teksti rikastamine — enne embeddingut lisatakse tükile dokumendi/sektsiooni pealkiri.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Tüki embedding — rikastatud tükk saadetakse embedding mudelile (Ollama)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Vector store lisamine - tagastatud tihe vektor salvestatakse vektoriandmebaasi.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1-node deploymenti puhul jooksevad sammud 1-3 ja 5 open-webui konteineris, samm 4 ollama konteineris.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pic>
        <p:nvPicPr>
          <p:cNvPr id="259" name="Google Shape;259;p41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2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Mis toimub, kui teen kasutajaliideses päringu?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65" name="Google Shape;265;p42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42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Päringu embedimine (Ollama konteiner)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Vektori otsing, kas (open-webui konteiner)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Puhas vektorotsing (Vector Store)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Hübriidotsing (Vector Store + in-memory BM25)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Ümberjarjestamine (valikuline), kas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open-webui konteineris CPU v GPU kaudu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pole verifitseerinud, kas meie setupil GPUd tegelikult kasutatakse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välise API kaudu (RAG_EXTERNAL_RERANKER_URL)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Top-K valimine ja konteksti lisamine ja vastuse genereerimine (Ollama)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43" title="Screenshot 2026-03-07 at 15.06.39.png"/>
          <p:cNvPicPr preferRelativeResize="0"/>
          <p:nvPr/>
        </p:nvPicPr>
        <p:blipFill rotWithShape="1">
          <a:blip r:embed="rId3">
            <a:alphaModFix/>
          </a:blip>
          <a:srcRect b="3148" l="0" r="0" t="3148"/>
          <a:stretch/>
        </p:blipFill>
        <p:spPr>
          <a:xfrm>
            <a:off x="1259674" y="0"/>
            <a:ext cx="66246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4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Milline seadistus teie taristul?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77" name="Google Shape;277;p44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4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H200 x4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variant 1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2x ollama (GPU)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2x openweb-ui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(GPU)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variant 2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3x ollama (GPU)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1x openweb-ui (GPU)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variant 3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3x ollama (GPU)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1x external reranker (GPU)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?x openweb-ui (CPU)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RTX PRO 6000 Blackwell x2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1x ollama (GPU)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1x openweb-ui (GPU)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Harjutus: süsteemi ülesseadmine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84" name="Google Shape;284;p45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5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 u="sng">
                <a:solidFill>
                  <a:schemeClr val="hlink"/>
                </a:solidFill>
                <a:latin typeface="Manrope"/>
                <a:ea typeface="Manrope"/>
                <a:cs typeface="Manrope"/>
                <a:sym typeface="Manrope"/>
                <a:hlinkClick r:id="rId4"/>
              </a:rPr>
              <a:t>https://github.com/mattiasarro/RAG</a:t>
            </a:r>
            <a:endParaRPr sz="23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6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46" title="Screenshot 2026-03-08 at 10.24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802850"/>
            <a:ext cx="8839200" cy="4087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" name="Google Shape;296;p47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47" title="Screenshot 2026-03-08 at 10.25.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28700"/>
            <a:ext cx="8839199" cy="25018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91919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8"/>
          <p:cNvSpPr txBox="1"/>
          <p:nvPr/>
        </p:nvSpPr>
        <p:spPr>
          <a:xfrm>
            <a:off x="969125" y="922075"/>
            <a:ext cx="6536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Milliseid mudeleid valida?</a:t>
            </a:r>
            <a:endParaRPr b="1" sz="20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03" name="Google Shape;303;p48" title="Frame 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8"/>
          <p:cNvSpPr txBox="1"/>
          <p:nvPr/>
        </p:nvSpPr>
        <p:spPr>
          <a:xfrm>
            <a:off x="1056475" y="1659425"/>
            <a:ext cx="6772200" cy="27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Meil on vaja valida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Generation model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(n qwen3.5:35b)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Embedding model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(n qwen3-embedding)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i="1"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Reranking model</a:t>
            </a: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 (n jinaai/jina-reranker-v2-base-multilingual)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rabi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Kriteeriumid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Eesti keele tugi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Mudeli kvaliteet (benchmark performance)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GPU piirangud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Open WebUI ühilduvus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roman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Ollama mudelid: https://ollama.com/library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1200"/>
              <a:buFont typeface="Manrope"/>
              <a:buAutoNum type="alphaLcPeriod"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Kiirus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Valige nii suur ja kvaliteetne Eesti keelt võimaldav mudel kui GPUsse mahub.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AFAFA"/>
                </a:solidFill>
                <a:latin typeface="Manrope"/>
                <a:ea typeface="Manrope"/>
                <a:cs typeface="Manrope"/>
                <a:sym typeface="Manrope"/>
              </a:rPr>
              <a:t>Hiina mudelid on hetkel parimad; kinnises võrgus ohtu ei ole, aga poliitiline kalle eksisteerib.</a:t>
            </a:r>
            <a:endParaRPr sz="1200">
              <a:solidFill>
                <a:srgbClr val="FAFAFA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/>
          <p:nvPr/>
        </p:nvSpPr>
        <p:spPr>
          <a:xfrm>
            <a:off x="494350" y="2094875"/>
            <a:ext cx="7628400" cy="1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400">
                <a:solidFill>
                  <a:srgbClr val="139782"/>
                </a:solidFill>
                <a:latin typeface="Sora"/>
                <a:ea typeface="Sora"/>
                <a:cs typeface="Sora"/>
                <a:sym typeface="Sora"/>
              </a:rPr>
              <a:t>Aitäh! 🙏</a:t>
            </a:r>
            <a:endParaRPr b="1" sz="3800">
              <a:solidFill>
                <a:srgbClr val="13978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311" name="Google Shape;311;p49" title="Frame 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75" y="203825"/>
            <a:ext cx="693575" cy="4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